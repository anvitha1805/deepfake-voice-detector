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4A29-F16B-55B9-CFBF-4C3620009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94299-8F2B-BBE4-8FF4-48D0F17D4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A2989-69BD-3604-496A-D711FC43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B2F8C-051F-15CF-AE34-89C4232F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760D6-0B14-3FA8-C187-5A178740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88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E013-C229-9E4C-1AB7-10A2EE55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9C78D-44AF-DAE1-0D92-B282ABAEC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C3BB-BCA8-8083-4D46-9CD6300B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7D00-8A89-9F7A-A49C-E4EBA8F0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A1B68-DD3D-3EEB-3F19-B64A4A48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41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DBFA-2BB2-FE1D-56B4-EFE6E106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36611-8F4F-1E0D-CDFC-026C6BD24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A09AC-A115-4731-B011-EBF44329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A9ED9-4EB4-DD51-166D-175EE839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03F14-BA6F-DEF9-DC37-A6FB2ED3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3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F199-019A-3C37-A142-A69F4622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27E4-D326-19B8-F2C0-99D6049A6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2E411-A5F2-9F8B-381E-DEF9CE32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54E20-19BB-EECA-DCFB-D184DB68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3C5A0-22D2-578B-0ACB-B6BC5D46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EF92F-0339-29D0-D2DC-81D8EEBA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12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94A2-8BD2-B6CC-7938-FFCE00EB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E08D1-64CD-B483-0C1E-E07FEADD7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40E71-5A26-3208-F240-956EEB4FE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4EC7F-6D26-4DF2-A7C8-7F9B1B722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683C7-B1D1-8CC8-0777-FEF54917B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5C28E-284A-7711-448C-D4F9A32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B3617-FAB4-DEEE-3E04-A4E76303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F7830-091E-B465-1783-A23CC435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81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28C2-18CC-64A8-CC96-06E4FC52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EEBF4-F624-F056-51DC-93E636F6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378A7-1914-9430-3ED8-CF18DE6D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4B11A-BA24-460C-13C8-A620B0C3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91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426F0-5F50-FC9D-6424-A67C265A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529B3-0D83-22BD-ADA6-D8D8FF0E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B8AB0-590B-6E62-15ED-311D0D98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6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9ACE-6C1E-6CFF-3882-FFA62F6A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E12C-10E4-E641-EA96-31D0F62A9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60D64-B307-7810-2157-CFDD5FC84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690EB-5CA2-4472-B60F-310294E0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7B84F-F4E5-4930-1E44-DFBBAFF7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777A3-673B-81B8-96A0-53F50563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36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EDB3-8665-5B92-8652-3577876C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989492-A170-C442-9B23-726CCC2BE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39BEF-E50B-72C0-5D70-A8FC340B6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3ECFE-A6E7-4865-83FD-D42A53A0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94377-32AE-1305-6E5E-60797224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D87DB-E85B-B176-B056-913F6AE5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59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335B-CDD3-D779-87F6-8BFE6D67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81345-2EC4-5FF6-D510-4A23AC4B2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58AD1-E639-20F1-604E-A969F693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4BE5E-118C-09FD-0ABB-B6546617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6EF9C-32D7-8A3C-BAF2-C934232A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3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26B88-1B88-E74D-99F8-56104CC47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D1569-ED2D-BC58-DD51-153878983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8CEC1-2767-3C99-5B6C-9EED0A42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93BBA-9D83-90B5-D910-1CADB562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FFA0C-BB2B-5280-374F-C130E539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437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84A808-740B-879D-B74A-196A7996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BADFC-26E9-3305-45DF-CD54FB33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41DA4-05C3-8F7A-41C9-4B5D50835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85F2C-1145-4BC2-931A-3E172FBBACA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96530-8D6E-ABE9-63E1-50EBCA833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0AA2-B599-2941-423E-A56BD0776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025BA-AB28-4B4F-9725-7DEE5451C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13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7D25-220B-B64C-2AB6-A0B4F0EFF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865" y="1491905"/>
            <a:ext cx="9144000" cy="811162"/>
          </a:xfrm>
        </p:spPr>
        <p:txBody>
          <a:bodyPr>
            <a:normAutofit/>
          </a:bodyPr>
          <a:lstStyle/>
          <a:p>
            <a:r>
              <a:rPr lang="en-IN" sz="4800" dirty="0"/>
              <a:t>Deepfake Audio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3E000-F7F4-2B4F-38BC-ED4B5A2E4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6" y="2138236"/>
            <a:ext cx="9144000" cy="4282229"/>
          </a:xfrm>
        </p:spPr>
        <p:txBody>
          <a:bodyPr>
            <a:normAutofit/>
          </a:bodyPr>
          <a:lstStyle/>
          <a:p>
            <a:pPr algn="l"/>
            <a:endParaRPr lang="en-IN" b="1" dirty="0"/>
          </a:p>
          <a:p>
            <a:pPr algn="l"/>
            <a:r>
              <a:rPr lang="en-IN" b="1" dirty="0"/>
              <a:t>Team Members:</a:t>
            </a:r>
          </a:p>
          <a:p>
            <a:pPr algn="l"/>
            <a:r>
              <a:rPr lang="en-IN" dirty="0" err="1"/>
              <a:t>Goyam</a:t>
            </a:r>
            <a:r>
              <a:rPr lang="en-IN" dirty="0"/>
              <a:t> Jain(25BYB1072)</a:t>
            </a:r>
          </a:p>
          <a:p>
            <a:pPr algn="l"/>
            <a:r>
              <a:rPr lang="en-IN" dirty="0"/>
              <a:t>Anvitha Mohan(25BYB1226)</a:t>
            </a:r>
          </a:p>
          <a:p>
            <a:pPr algn="l"/>
            <a:r>
              <a:rPr lang="en-IN" dirty="0"/>
              <a:t>Amruta Basavaraj Banakar(25BYB1078)</a:t>
            </a:r>
          </a:p>
          <a:p>
            <a:pPr algn="l"/>
            <a:endParaRPr lang="en-IN" dirty="0"/>
          </a:p>
          <a:p>
            <a:pPr algn="l"/>
            <a:r>
              <a:rPr lang="en-IN" b="1" dirty="0"/>
              <a:t>Guide:</a:t>
            </a:r>
          </a:p>
          <a:p>
            <a:pPr algn="l"/>
            <a:r>
              <a:rPr lang="en-IN" dirty="0"/>
              <a:t>Jayasudha M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C694F-125A-1485-9D3B-648EE4B230FF}"/>
              </a:ext>
            </a:extLst>
          </p:cNvPr>
          <p:cNvSpPr txBox="1"/>
          <p:nvPr/>
        </p:nvSpPr>
        <p:spPr>
          <a:xfrm>
            <a:off x="1887794" y="845574"/>
            <a:ext cx="784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INNOVATIVE  DESIGN  PROJECT</a:t>
            </a:r>
          </a:p>
        </p:txBody>
      </p:sp>
    </p:spTree>
    <p:extLst>
      <p:ext uri="{BB962C8B-B14F-4D97-AF65-F5344CB8AC3E}">
        <p14:creationId xmlns:p14="http://schemas.microsoft.com/office/powerpoint/2010/main" val="412897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7E0D-9282-6099-B4DD-6A671F61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Presentation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3604-7E2E-7106-6B5C-54B63B44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904283"/>
            <a:ext cx="10515600" cy="3454298"/>
          </a:xfrm>
        </p:spPr>
        <p:txBody>
          <a:bodyPr/>
          <a:lstStyle/>
          <a:p>
            <a:pPr marL="514350" lvl="0" indent="-514350">
              <a:buAutoNum type="arabicPeriod"/>
            </a:pPr>
            <a:r>
              <a:rPr lang="en-IN" b="1" dirty="0"/>
              <a:t>The Threat:</a:t>
            </a:r>
            <a:r>
              <a:rPr lang="en-IN" dirty="0"/>
              <a:t> How voice cloning works and why it is dangerous.</a:t>
            </a:r>
          </a:p>
          <a:p>
            <a:pPr marL="0" lvl="0" indent="0">
              <a:buNone/>
            </a:pPr>
            <a:r>
              <a:rPr lang="en-IN" b="1" dirty="0"/>
              <a:t>2. The Solution:</a:t>
            </a:r>
            <a:r>
              <a:rPr lang="en-IN" dirty="0"/>
              <a:t> Our core approach to detecting deepfake audio.</a:t>
            </a:r>
          </a:p>
          <a:p>
            <a:pPr marL="0" lvl="0" indent="0">
              <a:buNone/>
            </a:pPr>
            <a:r>
              <a:rPr lang="en-IN" b="1" dirty="0"/>
              <a:t>3. Technical Architecture:</a:t>
            </a:r>
            <a:r>
              <a:rPr lang="en-IN" dirty="0"/>
              <a:t> How the system extracts features and classifies sound.</a:t>
            </a:r>
          </a:p>
          <a:p>
            <a:pPr marL="0" lvl="0" indent="0">
              <a:buNone/>
            </a:pPr>
            <a:r>
              <a:rPr lang="en-IN" b="1" dirty="0"/>
              <a:t>4. Performance &amp; Challenges:</a:t>
            </a:r>
            <a:r>
              <a:rPr lang="en-IN" dirty="0"/>
              <a:t> System accuracy and real-world limitations.</a:t>
            </a:r>
          </a:p>
          <a:p>
            <a:pPr marL="0" lvl="0" indent="0">
              <a:buNone/>
            </a:pPr>
            <a:r>
              <a:rPr lang="en-IN" b="1" dirty="0"/>
              <a:t>5. Future Scope:</a:t>
            </a:r>
            <a:r>
              <a:rPr lang="en-IN" dirty="0"/>
              <a:t> Next steps and key takeaways.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87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546A-3E65-7531-4011-5524597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A3D9-CABB-CCC5-DEB5-437E60FB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819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2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SASV-Core Forensics is an enterprise-grade audio deepfake detection system designed to serve as a forensic pre-filter in voice authentication pipelines. It asks a single, critical question before any identity check proceeds: </a:t>
            </a:r>
            <a:r>
              <a:rPr lang="en-US" sz="24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Is this audio real or AI-generated?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 on frame-level MFCC analysis and Random Forest classification, SASV-Core examines audio at sub-second resolution — detecting even short, spliced synthetic segments that whole-file approaches would miss entirely.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430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E3B8-F8FD-3DFC-C9D4-71E596C3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8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Literature survey: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CF567F-1D10-9535-9ADB-53E08BE976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238052"/>
              </p:ext>
            </p:extLst>
          </p:nvPr>
        </p:nvGraphicFramePr>
        <p:xfrm>
          <a:off x="838200" y="1189243"/>
          <a:ext cx="10016613" cy="37236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8871">
                  <a:extLst>
                    <a:ext uri="{9D8B030D-6E8A-4147-A177-3AD203B41FA5}">
                      <a16:colId xmlns:a16="http://schemas.microsoft.com/office/drawing/2014/main" val="2085923614"/>
                    </a:ext>
                  </a:extLst>
                </a:gridCol>
                <a:gridCol w="3338871">
                  <a:extLst>
                    <a:ext uri="{9D8B030D-6E8A-4147-A177-3AD203B41FA5}">
                      <a16:colId xmlns:a16="http://schemas.microsoft.com/office/drawing/2014/main" val="3426083004"/>
                    </a:ext>
                  </a:extLst>
                </a:gridCol>
                <a:gridCol w="3338871">
                  <a:extLst>
                    <a:ext uri="{9D8B030D-6E8A-4147-A177-3AD203B41FA5}">
                      <a16:colId xmlns:a16="http://schemas.microsoft.com/office/drawing/2014/main" val="4209948449"/>
                    </a:ext>
                  </a:extLst>
                </a:gridCol>
              </a:tblGrid>
              <a:tr h="4013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                  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403654"/>
                  </a:ext>
                </a:extLst>
              </a:tr>
              <a:tr h="70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Todisco et al.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CQCC + GMM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Detected synthetic speech using spectral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352441"/>
                  </a:ext>
                </a:extLst>
              </a:tr>
              <a:tr h="86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ASVspoof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ML/DL-based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Established benchmark datasets for spoofed speech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238894"/>
                  </a:ext>
                </a:extLst>
              </a:tr>
              <a:tr h="70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Jung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AASIST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</a:t>
                      </a:r>
                      <a:r>
                        <a:rPr lang="en-IN" dirty="0" err="1"/>
                        <a:t>spectro</a:t>
                      </a:r>
                      <a:r>
                        <a:rPr lang="en-IN" dirty="0"/>
                        <a:t>-temporal features for improved spoof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59848"/>
                  </a:ext>
                </a:extLst>
              </a:tr>
              <a:tr h="1003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Yi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Deep learning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Highlighted challenges in detecting unseen deepfake voices.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3996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F97741-8994-C51A-F7B9-7014B2D3DA10}"/>
              </a:ext>
            </a:extLst>
          </p:cNvPr>
          <p:cNvSpPr txBox="1"/>
          <p:nvPr/>
        </p:nvSpPr>
        <p:spPr>
          <a:xfrm>
            <a:off x="838200" y="4930093"/>
            <a:ext cx="8207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CQCC → Constant-Q Cepstral Coefficients</a:t>
            </a:r>
          </a:p>
          <a:p>
            <a:r>
              <a:rPr lang="en-IN" dirty="0"/>
              <a:t>GMM → Gaussian Mixture Model</a:t>
            </a:r>
            <a:endParaRPr lang="en-IN" b="1" dirty="0"/>
          </a:p>
          <a:p>
            <a:r>
              <a:rPr lang="en-IN" dirty="0" err="1"/>
              <a:t>ASVspoof</a:t>
            </a:r>
            <a:r>
              <a:rPr lang="en-IN" dirty="0"/>
              <a:t> → Automatic Speaker Verification Spoofing</a:t>
            </a:r>
          </a:p>
          <a:p>
            <a:r>
              <a:rPr lang="en-IN" dirty="0"/>
              <a:t>AASIST → Audio Anti-Spoofing using Integrated Spectro-Temporal Graph Attention Networks</a:t>
            </a:r>
          </a:p>
        </p:txBody>
      </p:sp>
    </p:spTree>
    <p:extLst>
      <p:ext uri="{BB962C8B-B14F-4D97-AF65-F5344CB8AC3E}">
        <p14:creationId xmlns:p14="http://schemas.microsoft.com/office/powerpoint/2010/main" val="336815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6224-E3A9-05B5-DDC2-5F627C9C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5115"/>
          </a:xfrm>
        </p:spPr>
        <p:txBody>
          <a:bodyPr>
            <a:normAutofit/>
          </a:bodyPr>
          <a:lstStyle/>
          <a:p>
            <a:r>
              <a:rPr lang="en-IN" sz="4000" dirty="0"/>
              <a:t>Challenges and Research Gap: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1A75A-E685-C1E5-9B9E-C954D35CF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16460"/>
            <a:ext cx="5157787" cy="548456"/>
          </a:xfrm>
        </p:spPr>
        <p:txBody>
          <a:bodyPr>
            <a:normAutofit/>
          </a:bodyPr>
          <a:lstStyle/>
          <a:p>
            <a:pPr algn="ctr"/>
            <a:r>
              <a:rPr lang="en-IN" sz="3200" b="0" dirty="0"/>
              <a:t>Research Gap: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FA1E1-1A17-08BF-220B-8921C8CEF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81136"/>
            <a:ext cx="5157787" cy="368458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sz="2400" dirty="0"/>
              <a:t>Existing models work well on known deepfake datasets. </a:t>
            </a:r>
          </a:p>
          <a:p>
            <a:pPr lvl="0"/>
            <a:r>
              <a:rPr lang="en-IN" sz="2400" dirty="0"/>
              <a:t>They may perform poorly on new/unseen AI-generated voices. </a:t>
            </a:r>
          </a:p>
          <a:p>
            <a:pPr lvl="0"/>
            <a:r>
              <a:rPr lang="en-IN" sz="2400" dirty="0"/>
              <a:t>Real-world audio contains noise, compression, and different recording conditions. </a:t>
            </a:r>
          </a:p>
          <a:p>
            <a:pPr lvl="0"/>
            <a:r>
              <a:rPr lang="en-IN" sz="2400" dirty="0"/>
              <a:t>Many systems require large and diverse datasets for reliable detection.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75828-D2DE-BB11-DF70-8B445DA45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424757"/>
            <a:ext cx="5183188" cy="540159"/>
          </a:xfrm>
        </p:spPr>
        <p:txBody>
          <a:bodyPr>
            <a:normAutofit/>
          </a:bodyPr>
          <a:lstStyle/>
          <a:p>
            <a:pPr algn="ctr"/>
            <a:r>
              <a:rPr lang="en-IN" sz="3200" b="0" dirty="0"/>
              <a:t>Challenges: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58828-4011-A2AB-DD7F-BA7EABB11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7" y="2081135"/>
            <a:ext cx="5183188" cy="441173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sz="2400" dirty="0"/>
              <a:t>Highly realistic AI-generated voices are difficult to distinguish from genuine voices. </a:t>
            </a:r>
          </a:p>
          <a:p>
            <a:pPr lvl="0"/>
            <a:r>
              <a:rPr lang="en-IN" sz="2400" dirty="0"/>
              <a:t>New voice-generation techniques can reduce the effectiveness of existing detectors. </a:t>
            </a:r>
          </a:p>
          <a:p>
            <a:pPr lvl="0"/>
            <a:r>
              <a:rPr lang="en-IN" sz="2400" dirty="0"/>
              <a:t>Background noise and variations in audio quality can affect detection. </a:t>
            </a:r>
          </a:p>
          <a:p>
            <a:pPr lvl="0"/>
            <a:r>
              <a:rPr lang="en-IN" sz="2400" dirty="0"/>
              <a:t>Differences in speakers, accents, and languages can affect model performance. </a:t>
            </a:r>
          </a:p>
          <a:p>
            <a:pPr lvl="0"/>
            <a:r>
              <a:rPr lang="en-IN" sz="2400" dirty="0"/>
              <a:t>Detecting short deepfake segments within longer recordings can be challenging.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43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84D5-C6FF-7368-78F7-9B29BB95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813" y="512609"/>
            <a:ext cx="10515600" cy="795081"/>
          </a:xfrm>
        </p:spPr>
        <p:txBody>
          <a:bodyPr>
            <a:normAutofit/>
          </a:bodyPr>
          <a:lstStyle/>
          <a:p>
            <a:r>
              <a:rPr lang="en-IN" sz="4000" dirty="0"/>
              <a:t>Project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84DB-F305-68E4-D0F7-84C47A92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93" y="1406012"/>
            <a:ext cx="10626213" cy="526025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sz="2400" dirty="0"/>
              <a:t>To develop an automated deepfake audio detection system that can distinguish between genuine human speech and AI-generated speech.</a:t>
            </a:r>
          </a:p>
          <a:p>
            <a:pPr lvl="0"/>
            <a:r>
              <a:rPr lang="en-IN" sz="2400" dirty="0"/>
              <a:t>To perform localized audio analysis by dividing recordings into short 0.5-second segments and extracting 13 MFCC features from each segment.</a:t>
            </a:r>
          </a:p>
          <a:p>
            <a:pPr lvl="0"/>
            <a:r>
              <a:rPr lang="en-IN" sz="2400" dirty="0"/>
              <a:t>To develop and evaluate a Random Forest-based detection model using the </a:t>
            </a:r>
            <a:r>
              <a:rPr lang="en-IN" sz="2400" dirty="0" err="1"/>
              <a:t>ASVspoof</a:t>
            </a:r>
            <a:r>
              <a:rPr lang="en-IN" sz="2400" dirty="0"/>
              <a:t> 2019 Logical Access dataset.</a:t>
            </a:r>
          </a:p>
          <a:p>
            <a:pPr lvl="0"/>
            <a:r>
              <a:rPr lang="en-IN" sz="2400" dirty="0"/>
              <a:t>To improve robustness for Indian speakers and languages by developing and incorporating a diverse Indic deepfake audio dataset containing different accents, languages, and speech conditions.</a:t>
            </a:r>
          </a:p>
          <a:p>
            <a:pPr lvl="0"/>
            <a:r>
              <a:rPr lang="en-IN" sz="2400" dirty="0"/>
              <a:t>To integrate real-time microphone input so that the system can </a:t>
            </a:r>
            <a:r>
              <a:rPr lang="en-IN" sz="2400" dirty="0" err="1"/>
              <a:t>analyze</a:t>
            </a:r>
            <a:r>
              <a:rPr lang="en-IN" sz="2400" dirty="0"/>
              <a:t> live speech and provide deepfake detection results.</a:t>
            </a:r>
          </a:p>
          <a:p>
            <a:pPr lvl="0"/>
            <a:r>
              <a:rPr lang="en-IN" sz="2400" dirty="0"/>
              <a:t>To provide an interpretable detection result by combining segment-level predictions and generating an overall Real/Deepfake classification with a confidence score.</a:t>
            </a:r>
          </a:p>
          <a:p>
            <a:pPr lvl="0"/>
            <a:r>
              <a:rPr lang="en-IN" sz="2400" dirty="0"/>
              <a:t>To explore advanced deepfake detection approaches such as CQCC features and AASIST for improving detection performance against newer and unseen synthetic voices.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23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167F-5179-DD6F-6B85-CB4A284D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IN" sz="3600" dirty="0"/>
              <a:t>Proposed 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3BE4-17DC-F2CA-4DF2-2BAFD88DF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b="1" dirty="0"/>
              <a:t>Audio Input: </a:t>
            </a:r>
            <a:r>
              <a:rPr lang="en-IN" sz="2400" dirty="0"/>
              <a:t>Upload a WAV, FLAC, or MP3 voice recording.</a:t>
            </a:r>
          </a:p>
          <a:p>
            <a:pPr lvl="0"/>
            <a:r>
              <a:rPr lang="en-IN" sz="2400" b="1" dirty="0"/>
              <a:t>Audio Segmentation: </a:t>
            </a:r>
            <a:r>
              <a:rPr lang="en-IN" sz="2400" dirty="0"/>
              <a:t>The audio is divided into 0.5-second windows.</a:t>
            </a:r>
          </a:p>
          <a:p>
            <a:pPr lvl="0"/>
            <a:r>
              <a:rPr lang="en-IN" sz="2400" b="1" dirty="0"/>
              <a:t>Feature Extraction: </a:t>
            </a:r>
            <a:r>
              <a:rPr lang="en-IN" sz="2400" dirty="0"/>
              <a:t>13 MFCC features are extracted from each window using preprocess.py.</a:t>
            </a:r>
          </a:p>
          <a:p>
            <a:pPr lvl="0"/>
            <a:r>
              <a:rPr lang="en-IN" sz="2400" b="1" dirty="0"/>
              <a:t>Classification: </a:t>
            </a:r>
            <a:r>
              <a:rPr lang="en-IN" sz="2400" dirty="0"/>
              <a:t>A Random Forest classifier trained on the </a:t>
            </a:r>
            <a:r>
              <a:rPr lang="en-IN" sz="2400" dirty="0" err="1"/>
              <a:t>ASVspoof</a:t>
            </a:r>
            <a:r>
              <a:rPr lang="en-IN" sz="2400" dirty="0"/>
              <a:t> 2019 Logical Access dataset classifies each window.</a:t>
            </a:r>
          </a:p>
          <a:p>
            <a:pPr lvl="0"/>
            <a:r>
              <a:rPr lang="en-IN" sz="2400" b="1" dirty="0"/>
              <a:t>Score Aggregation: </a:t>
            </a:r>
            <a:r>
              <a:rPr lang="en-IN" sz="2400" dirty="0"/>
              <a:t>Fake probabilities from all windows are averaged to obtain the overall fake probability.</a:t>
            </a:r>
          </a:p>
          <a:p>
            <a:pPr lvl="0"/>
            <a:r>
              <a:rPr lang="en-IN" sz="2400" b="1" dirty="0"/>
              <a:t>Final Decision: </a:t>
            </a:r>
            <a:r>
              <a:rPr lang="en-IN" sz="2400" dirty="0"/>
              <a:t>A threshold of 0.5 is used to classify the recording as Real or Deepfake.</a:t>
            </a:r>
          </a:p>
          <a:p>
            <a:pPr lvl="0"/>
            <a:r>
              <a:rPr lang="en-IN" sz="2400" b="1" dirty="0"/>
              <a:t>Output: </a:t>
            </a:r>
            <a:r>
              <a:rPr lang="en-IN" sz="2400" dirty="0"/>
              <a:t>The system displays the final prediction along with a confidence score.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07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463F-D8F1-3C27-E7BC-602EE63A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en-IN" sz="3600" dirty="0"/>
              <a:t>System Architecture: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9F51-271C-C4B0-708F-5EC956BC2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Audio Upload: </a:t>
            </a:r>
            <a:r>
              <a:rPr lang="en-IN" dirty="0"/>
              <a:t>User uploads WAV, FLAC, or MP3 audio.</a:t>
            </a:r>
          </a:p>
          <a:p>
            <a:pPr lvl="0"/>
            <a:r>
              <a:rPr lang="en-IN" b="1" dirty="0"/>
              <a:t>Flask Backend: </a:t>
            </a:r>
            <a:r>
              <a:rPr lang="en-IN" dirty="0"/>
              <a:t>/</a:t>
            </a:r>
            <a:r>
              <a:rPr lang="en-IN" dirty="0" err="1"/>
              <a:t>analyze</a:t>
            </a:r>
            <a:r>
              <a:rPr lang="en-IN" dirty="0"/>
              <a:t> receives and processes the audio.</a:t>
            </a:r>
          </a:p>
          <a:p>
            <a:pPr lvl="0"/>
            <a:r>
              <a:rPr lang="en-IN" b="1" dirty="0"/>
              <a:t>Preprocessing:</a:t>
            </a:r>
            <a:r>
              <a:rPr lang="en-IN" dirty="0"/>
              <a:t> Audio is divided into 0.5-second windows and 13 MFCC features are extracted.</a:t>
            </a:r>
          </a:p>
          <a:p>
            <a:pPr lvl="0"/>
            <a:r>
              <a:rPr lang="en-IN" b="1" dirty="0"/>
              <a:t>Classification: </a:t>
            </a:r>
            <a:r>
              <a:rPr lang="en-IN" dirty="0"/>
              <a:t>Random Forest model predicts the fake probability for each window.</a:t>
            </a:r>
          </a:p>
          <a:p>
            <a:pPr lvl="0"/>
            <a:r>
              <a:rPr lang="en-IN" b="1" dirty="0"/>
              <a:t>Decision: </a:t>
            </a:r>
            <a:r>
              <a:rPr lang="en-IN" dirty="0"/>
              <a:t>Probabilities are averaged and compared with a 0.5 threshold.</a:t>
            </a:r>
          </a:p>
          <a:p>
            <a:pPr lvl="0"/>
            <a:r>
              <a:rPr lang="en-IN" b="1" dirty="0"/>
              <a:t>Output: </a:t>
            </a:r>
            <a:r>
              <a:rPr lang="en-IN" dirty="0"/>
              <a:t>Result and confidence score are sent back to the frontend.</a:t>
            </a:r>
          </a:p>
          <a:p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Audio Upload → Flask → MFCC Extraction → Random Forest → Decision → JSON Response → Verdict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86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2830-D110-9767-612A-3F5068B6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8" y="583380"/>
            <a:ext cx="10515600" cy="922901"/>
          </a:xfrm>
        </p:spPr>
        <p:txBody>
          <a:bodyPr>
            <a:normAutofit/>
          </a:bodyPr>
          <a:lstStyle/>
          <a:p>
            <a:r>
              <a:rPr lang="en-IN" sz="3600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747DD-550A-5AF7-4326-DDB2CBBE1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831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Successfully developed a working audio deepfake detection system.</a:t>
            </a:r>
          </a:p>
          <a:p>
            <a:pPr lvl="0"/>
            <a:r>
              <a:rPr lang="en-IN" dirty="0"/>
              <a:t>The system classifies uploaded recordings as Real or Deepfake.</a:t>
            </a:r>
          </a:p>
          <a:p>
            <a:pPr lvl="0"/>
            <a:r>
              <a:rPr lang="en-IN" dirty="0"/>
              <a:t>Provides a confidence score with the final prediction.</a:t>
            </a:r>
          </a:p>
          <a:p>
            <a:pPr lvl="0"/>
            <a:r>
              <a:rPr lang="en-IN" dirty="0"/>
              <a:t>Supports WAV, FLAC, and MP3 audio files.</a:t>
            </a:r>
          </a:p>
          <a:p>
            <a:pPr lvl="0"/>
            <a:r>
              <a:rPr lang="en-IN" dirty="0"/>
              <a:t>Provides a simple web interface for uploading audio and viewing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3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udio Forensics">
      <a:dk1>
        <a:srgbClr val="1B2430"/>
      </a:dk1>
      <a:lt1>
        <a:srgbClr val="FCFDFD"/>
      </a:lt1>
      <a:dk2>
        <a:srgbClr val="0F3B39"/>
      </a:dk2>
      <a:lt2>
        <a:srgbClr val="EEF2F2"/>
      </a:lt2>
      <a:accent1>
        <a:srgbClr val="0F8B8D"/>
      </a:accent1>
      <a:accent2>
        <a:srgbClr val="D98A3D"/>
      </a:accent2>
      <a:accent3>
        <a:srgbClr val="2E5C8A"/>
      </a:accent3>
      <a:accent4>
        <a:srgbClr val="4FB6B0"/>
      </a:accent4>
      <a:accent5>
        <a:srgbClr val="6B5CA5"/>
      </a:accent5>
      <a:accent6>
        <a:srgbClr val="3E8E5A"/>
      </a:accent6>
      <a:hlink>
        <a:srgbClr val="0F8B8D"/>
      </a:hlink>
      <a:folHlink>
        <a:srgbClr val="6B5CA5"/>
      </a:folHlink>
    </a:clrScheme>
    <a:fontScheme name="Office">
      <a:majorFont>
        <a:latin typeface="Cambria" panose="02040503050406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799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Lato</vt:lpstr>
      <vt:lpstr>Lato Bold</vt:lpstr>
      <vt:lpstr>Office Theme</vt:lpstr>
      <vt:lpstr>Deepfake Audio Detector</vt:lpstr>
      <vt:lpstr>Presentation Agenda</vt:lpstr>
      <vt:lpstr>Introduction:</vt:lpstr>
      <vt:lpstr>Literature survey:</vt:lpstr>
      <vt:lpstr>Challenges and Research Gap:</vt:lpstr>
      <vt:lpstr>Project Objectives:</vt:lpstr>
      <vt:lpstr>Proposed methodology:</vt:lpstr>
      <vt:lpstr>System Architecture:</vt:lpstr>
      <vt:lpstr>Results: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Banakar</dc:creator>
  <cp:lastModifiedBy>Amruta Banakar</cp:lastModifiedBy>
  <cp:revision>2</cp:revision>
  <dcterms:created xsi:type="dcterms:W3CDTF">2026-09-22T14:59:10Z</dcterms:created>
  <dcterms:modified xsi:type="dcterms:W3CDTF">2026-09-22T17:09:47Z</dcterms:modified>
</cp:coreProperties>
</file>